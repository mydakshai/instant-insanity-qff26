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d6e3031-18a7-5025-d6f6-52a74899878a}">
          <p14:sldIdLst>
            <p14:sldId id="256"/>
          </p14:sldIdLst>
        </p14:section>
        <p14:section name="Problem" id="{e7f67ee4-6585-4779-e221-1a8d93dd7dd7}">
          <p14:sldIdLst>
            <p14:sldId id="257"/>
          </p14:sldIdLst>
        </p14:section>
        <p14:section name="Encoding" id="{bd4aa96d-c7c4-6ca3-c9e6-548a961fe838}">
          <p14:sldIdLst>
            <p14:sldId id="258"/>
          </p14:sldIdLst>
        </p14:section>
        <p14:section name="Checks" id="{e59eef75-3803-1c78-8461-373e55cc3b6f}">
          <p14:sldIdLst>
            <p14:sldId id="259"/>
          </p14:sldIdLst>
        </p14:section>
        <p14:section name="Results" id="{4221548c-39d5-70f9-8c5b-36c18da9952e}">
          <p14:sldIdLst>
            <p14:sldId id="260"/>
            <p14:sldId id="261"/>
            <p14:sldId id="262"/>
          </p14:sldIdLst>
        </p14:section>
        <p14:section name="Closing" id="{91159f04-97a0-d42b-dc69-a91a76e65a3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cubes, four colours. Stack them so every colour shows once on each side. We solve it with QAOA on an encoding that uses half the qubits of the starter's.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331,776 stackings, 8 solved orientations, which are one tower from eight angles.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legal choices fit in three qubits, which hold eight states. Map all eight onto the six. Then the structural rules are in the encoding, not in penalty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low energy is not proof. Each reported tower is rebuilt and handed to the starter notebook's own solves().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free performance. We did not change the physics, only the labelling.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Random-restart COBYLA on the mean stalled near 2 percent. CVaR plus layerwise growth reached 45 on the identical Hamiltonian.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cubes on SV1, the larger ones on the local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thing we would try next is CX-ladder sharing across neighbouring Z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105156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5DC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LOSE">
    <p:bg>
      <p:bgPr>
        <a:solidFill>
          <a:srgbClr val="17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240280"/>
            <a:ext cx="1051560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C9C5DC"/>
                </a:solidFill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C9C5DC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263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7A94"/>
                </a:solidFill>
              </a:rPr>
              <a:t>Instant Insanity · compact QAOA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hasCustomPrompt="1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7C7A94"/>
                </a:solidFill>
              </a:defRPr>
            </a:lvl1pPr>
          </a:lstStyle>
          <a:p>
            <a:pPr algn="r" indent="0" marL="0">
              <a:buNone/>
            </a:pPr>
            <a:r>
              <a:rPr lang="en-US" sz="1000" dirty="0">
                <a:solidFill>
                  <a:srgbClr val="7C7A94"/>
                </a:solidFill>
              </a:rPr>
              <a:t> 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0"/>
          <p:cNvSpPr/>
          <p:nvPr/>
        </p:nvSpPr>
        <p:spPr>
          <a:xfrm>
            <a:off x="822960" y="16002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" name="motif1"/>
          <p:cNvSpPr/>
          <p:nvPr/>
        </p:nvSpPr>
        <p:spPr>
          <a:xfrm>
            <a:off x="1207008" y="16002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2FA95F"/>
          </a:solidFill>
          <a:ln w="12700">
            <a:solidFill>
              <a:srgbClr val="2FA95F"/>
            </a:solidFill>
            <a:prstDash val="solid"/>
          </a:ln>
        </p:spPr>
      </p:sp>
      <p:sp>
        <p:nvSpPr>
          <p:cNvPr id="4" name="motif2"/>
          <p:cNvSpPr/>
          <p:nvPr/>
        </p:nvSpPr>
        <p:spPr>
          <a:xfrm>
            <a:off x="1591056" y="16002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motif3"/>
          <p:cNvSpPr/>
          <p:nvPr/>
        </p:nvSpPr>
        <p:spPr>
          <a:xfrm>
            <a:off x="1975104" y="16002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E8B40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Instant Insanity on 12 qubits</a:t>
            </a:r>
            <a:endParaRPr lang="en-US" sz="44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822960" y="397764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</a:rPr>
              <a:t>Half the qubits, no penalty terms, and a 44% hit rate on AWS SV1 against a 0.146% random baseline.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Daksh Goswami  ·  Rueben  ·  Ishal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C7A94"/>
                </a:solidFill>
              </a:rPr>
              <a:t>Qiskit Fall Fest Connecticut 2026  ·  qBraid challenge  ·  UConn Quantum Computing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tiny puzzle with a brutal search space</a:t>
            </a:r>
            <a:endParaRPr lang="en-US" sz="3200" dirty="0"/>
          </a:p>
        </p:txBody>
      </p:sp>
      <p:sp>
        <p:nvSpPr>
          <p:cNvPr id="3" name="c0"/>
          <p:cNvSpPr/>
          <p:nvPr/>
        </p:nvSpPr>
        <p:spPr>
          <a:xfrm>
            <a:off x="685800" y="1463040"/>
            <a:ext cx="3108960" cy="1737360"/>
          </a:xfrm>
          <a:prstGeom prst="roundRect">
            <a:avLst>
              <a:gd name="adj" fmla="val 3158"/>
            </a:avLst>
          </a:prstGeom>
          <a:solidFill>
            <a:srgbClr val="F3F1FA"/>
          </a:solidFill>
          <a:ln w="12700">
            <a:solidFill>
              <a:srgbClr val="F3F1FA"/>
            </a:solidFill>
            <a:prstDash val="solid"/>
          </a:ln>
        </p:spPr>
      </p:sp>
      <p:sp>
        <p:nvSpPr>
          <p:cNvPr id="4" name="s0v"/>
          <p:cNvSpPr txBox="1"/>
          <p:nvPr/>
        </p:nvSpPr>
        <p:spPr>
          <a:xfrm>
            <a:off x="68580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B5CF6"/>
                </a:solidFill>
              </a:rPr>
              <a:t>331,776</a:t>
            </a:r>
            <a:endParaRPr lang="en-US" sz="4600" dirty="0"/>
          </a:p>
        </p:txBody>
      </p:sp>
      <p:sp>
        <p:nvSpPr>
          <p:cNvPr id="5" name="s0l"/>
          <p:cNvSpPr txBox="1"/>
          <p:nvPr/>
        </p:nvSpPr>
        <p:spPr>
          <a:xfrm>
            <a:off x="68580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94"/>
                </a:solidFill>
              </a:rPr>
              <a:t>ways to stack four cubes</a:t>
            </a:r>
            <a:endParaRPr lang="en-US" sz="1200" dirty="0"/>
          </a:p>
        </p:txBody>
      </p:sp>
      <p:sp>
        <p:nvSpPr>
          <p:cNvPr id="6" name="c1"/>
          <p:cNvSpPr/>
          <p:nvPr/>
        </p:nvSpPr>
        <p:spPr>
          <a:xfrm>
            <a:off x="4526280" y="1463040"/>
            <a:ext cx="3108960" cy="1737360"/>
          </a:xfrm>
          <a:prstGeom prst="roundRect">
            <a:avLst>
              <a:gd name="adj" fmla="val 3158"/>
            </a:avLst>
          </a:prstGeom>
          <a:solidFill>
            <a:srgbClr val="F3F1FA"/>
          </a:solidFill>
          <a:ln w="12700">
            <a:solidFill>
              <a:srgbClr val="F3F1FA"/>
            </a:solidFill>
            <a:prstDash val="solid"/>
          </a:ln>
        </p:spPr>
      </p:sp>
      <p:sp>
        <p:nvSpPr>
          <p:cNvPr id="7" name="s1v"/>
          <p:cNvSpPr txBox="1"/>
          <p:nvPr/>
        </p:nvSpPr>
        <p:spPr>
          <a:xfrm>
            <a:off x="452628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A95F"/>
                </a:solidFill>
              </a:rPr>
              <a:t>8</a:t>
            </a:r>
            <a:endParaRPr lang="en-US" sz="4600" dirty="0"/>
          </a:p>
        </p:txBody>
      </p:sp>
      <p:sp>
        <p:nvSpPr>
          <p:cNvPr id="8" name="s1l"/>
          <p:cNvSpPr txBox="1"/>
          <p:nvPr/>
        </p:nvSpPr>
        <p:spPr>
          <a:xfrm>
            <a:off x="452628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94"/>
                </a:solidFill>
              </a:rPr>
              <a:t>that actually work</a:t>
            </a:r>
            <a:endParaRPr lang="en-US" sz="1200" dirty="0"/>
          </a:p>
        </p:txBody>
      </p:sp>
      <p:sp>
        <p:nvSpPr>
          <p:cNvPr id="9" name="c2"/>
          <p:cNvSpPr/>
          <p:nvPr/>
        </p:nvSpPr>
        <p:spPr>
          <a:xfrm>
            <a:off x="8366760" y="1463040"/>
            <a:ext cx="3108960" cy="1737360"/>
          </a:xfrm>
          <a:prstGeom prst="roundRect">
            <a:avLst>
              <a:gd name="adj" fmla="val 3158"/>
            </a:avLst>
          </a:prstGeom>
          <a:solidFill>
            <a:srgbClr val="F3F1FA"/>
          </a:solidFill>
          <a:ln w="12700">
            <a:solidFill>
              <a:srgbClr val="F3F1FA"/>
            </a:solidFill>
            <a:prstDash val="solid"/>
          </a:ln>
        </p:spPr>
      </p:sp>
      <p:sp>
        <p:nvSpPr>
          <p:cNvPr id="10" name="s2v"/>
          <p:cNvSpPr txBox="1"/>
          <p:nvPr/>
        </p:nvSpPr>
        <p:spPr>
          <a:xfrm>
            <a:off x="8366760" y="1691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64545"/>
                </a:solidFill>
              </a:rPr>
              <a:t>&lt; 1 s</a:t>
            </a:r>
            <a:endParaRPr lang="en-US" sz="4600" dirty="0"/>
          </a:p>
        </p:txBody>
      </p:sp>
      <p:sp>
        <p:nvSpPr>
          <p:cNvPr id="11" name="s2l"/>
          <p:cNvSpPr txBox="1"/>
          <p:nvPr/>
        </p:nvSpPr>
        <p:spPr>
          <a:xfrm>
            <a:off x="8366760" y="2441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94"/>
                </a:solidFill>
              </a:rPr>
              <a:t>for classical brute force</a:t>
            </a:r>
            <a:endParaRPr lang="en-US" sz="1200" dirty="0"/>
          </a:p>
        </p:txBody>
      </p:sp>
      <p:sp>
        <p:nvSpPr>
          <p:cNvPr id="12" name="explain"/>
          <p:cNvSpPr txBox="1"/>
          <p:nvPr/>
        </p:nvSpPr>
        <p:spPr>
          <a:xfrm>
            <a:off x="685800" y="35661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cube shows one of three opposite-face pairs on the front/back axis and a different pair on left/right, so each cube has exactly 6 legal choices. A tower is solved when all four sides show all four colours.</a:t>
            </a:r>
            <a:endParaRPr lang="en-US" sz="1500" dirty="0"/>
          </a:p>
        </p:txBody>
      </p:sp>
      <p:sp>
        <p:nvSpPr>
          <p:cNvPr id="13" name="honesty"/>
          <p:cNvSpPr txBox="1"/>
          <p:nvPr/>
        </p:nvSpPr>
        <p:spPr>
          <a:xfrm>
            <a:off x="685800" y="443484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Brute force already wins at N = 4.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 say so on every slide that reports a number. What the quantum route buys is a method that never enumerates — and a cost curve we can measure as the puzzle grows.</a:t>
            </a:r>
            <a:endParaRPr lang="en-US" sz="1400" dirty="0"/>
          </a:p>
        </p:txBody>
      </p:sp>
      <p:sp>
        <p:nvSpPr>
          <p:cNvPr id="14" name="motif0"/>
          <p:cNvSpPr/>
          <p:nvPr/>
        </p:nvSpPr>
        <p:spPr>
          <a:xfrm>
            <a:off x="68580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5" name="motif1"/>
          <p:cNvSpPr/>
          <p:nvPr/>
        </p:nvSpPr>
        <p:spPr>
          <a:xfrm>
            <a:off x="89154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FA95F"/>
          </a:solidFill>
          <a:ln w="12700">
            <a:solidFill>
              <a:srgbClr val="2FA95F"/>
            </a:solidFill>
            <a:prstDash val="solid"/>
          </a:ln>
        </p:spPr>
      </p:sp>
      <p:sp>
        <p:nvSpPr>
          <p:cNvPr id="16" name="motif2"/>
          <p:cNvSpPr/>
          <p:nvPr/>
        </p:nvSpPr>
        <p:spPr>
          <a:xfrm>
            <a:off x="109728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motif3"/>
          <p:cNvSpPr/>
          <p:nvPr/>
        </p:nvSpPr>
        <p:spPr>
          <a:xfrm>
            <a:off x="130302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8B40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19" name="Text 1"/>
          <p:cNvSpPr/>
          <p:nvPr>
            <p:ph idx="102" hasCustomPrompt="1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Make every bitstring legal, and the penalties disappear</a:t>
            </a:r>
            <a:endParaRPr lang="en-US" sz="3200" dirty="0"/>
          </a:p>
        </p:txBody>
      </p:sp>
      <p:sp>
        <p:nvSpPr>
          <p:cNvPr id="3" name="onehot"/>
          <p:cNvSpPr/>
          <p:nvPr/>
        </p:nvSpPr>
        <p:spPr>
          <a:xfrm>
            <a:off x="685800" y="1371600"/>
            <a:ext cx="5120640" cy="3200400"/>
          </a:xfrm>
          <a:prstGeom prst="roundRect">
            <a:avLst>
              <a:gd name="adj" fmla="val 1714"/>
            </a:avLst>
          </a:prstGeom>
          <a:solidFill>
            <a:srgbClr val="F7E9E9"/>
          </a:solidFill>
          <a:ln w="12700">
            <a:solidFill>
              <a:srgbClr val="F7E9E9"/>
            </a:solidFill>
            <a:prstDash val="solid"/>
          </a:ln>
        </p:spPr>
      </p:sp>
      <p:sp>
        <p:nvSpPr>
          <p:cNvPr id="4" name="oh"/>
          <p:cNvSpPr txBox="1"/>
          <p:nvPr/>
        </p:nvSpPr>
        <p:spPr>
          <a:xfrm>
            <a:off x="960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One-hot (starter)</a:t>
            </a:r>
            <a:endParaRPr lang="en-US" sz="1800" dirty="0"/>
          </a:p>
        </p:txBody>
      </p:sp>
      <p:sp>
        <p:nvSpPr>
          <p:cNvPr id="5" name="ohlist"/>
          <p:cNvSpPr txBox="1"/>
          <p:nvPr/>
        </p:nvSpPr>
        <p:spPr>
          <a:xfrm>
            <a:off x="960120" y="20116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 qubits per cube → 24 for four cubes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most bitstrings are illegal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penalties for "one pair per axis"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penalty for "a pair cannot serve both axes"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XY mixer + W-state preparation</a:t>
            </a:r>
            <a:endParaRPr lang="en-US" sz="1400" dirty="0"/>
          </a:p>
        </p:txBody>
      </p:sp>
      <p:sp>
        <p:nvSpPr>
          <p:cNvPr id="6" name="compact"/>
          <p:cNvSpPr/>
          <p:nvPr/>
        </p:nvSpPr>
        <p:spPr>
          <a:xfrm>
            <a:off x="6355080" y="1371600"/>
            <a:ext cx="5120640" cy="3200400"/>
          </a:xfrm>
          <a:prstGeom prst="roundRect">
            <a:avLst>
              <a:gd name="adj" fmla="val 1714"/>
            </a:avLst>
          </a:prstGeom>
          <a:solidFill>
            <a:srgbClr val="ECE6FB"/>
          </a:solidFill>
          <a:ln w="12700">
            <a:solidFill>
              <a:srgbClr val="ECE6FB"/>
            </a:solidFill>
            <a:prstDash val="solid"/>
          </a:ln>
        </p:spPr>
      </p:sp>
      <p:sp>
        <p:nvSpPr>
          <p:cNvPr id="7" name="cp"/>
          <p:cNvSpPr txBox="1"/>
          <p:nvPr/>
        </p:nvSpPr>
        <p:spPr>
          <a:xfrm>
            <a:off x="66294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Compact (ours)</a:t>
            </a:r>
            <a:endParaRPr lang="en-US" sz="1800" dirty="0"/>
          </a:p>
        </p:txBody>
      </p:sp>
      <p:sp>
        <p:nvSpPr>
          <p:cNvPr id="8" name="cplist"/>
          <p:cNvSpPr txBox="1"/>
          <p:nvPr/>
        </p:nvSpPr>
        <p:spPr>
          <a:xfrm>
            <a:off x="6629400" y="20116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qubits per cube → 12 for four cubes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8 states map onto the 6 legal choices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bitstring is ever illegal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penalty terms, nothing to tune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plain X mixer is enough</a:t>
            </a:r>
            <a:endParaRPr lang="en-US" sz="1400" dirty="0"/>
          </a:p>
        </p:txBody>
      </p:sp>
      <p:sp>
        <p:nvSpPr>
          <p:cNvPr id="9" name="big"/>
          <p:cNvSpPr txBox="1"/>
          <p:nvPr/>
        </p:nvSpPr>
        <p:spPr>
          <a:xfrm>
            <a:off x="685800" y="4800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</a:rPr>
              <a:t>24  →  12 qubits</a:t>
            </a:r>
            <a:endParaRPr lang="en-US" sz="3000" dirty="0"/>
          </a:p>
        </p:txBody>
      </p:sp>
      <p:sp>
        <p:nvSpPr>
          <p:cNvPr id="10" name="cost"/>
          <p:cNvSpPr txBox="1"/>
          <p:nvPr/>
        </p:nvSpPr>
        <p:spPr>
          <a:xfrm>
            <a:off x="6355080" y="475488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cost  =  Σ over axes and colours of  (dₖ − 2)²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C7A94"/>
                </a:solidFill>
              </a:rPr>
              <a:t>zero exactly for a solved tower</a:t>
            </a:r>
            <a:endParaRPr lang="en-US" sz="1500" dirty="0"/>
          </a:p>
        </p:txBody>
      </p:sp>
      <p:sp>
        <p:nvSpPr>
          <p:cNvPr id="11" name="motif0"/>
          <p:cNvSpPr/>
          <p:nvPr/>
        </p:nvSpPr>
        <p:spPr>
          <a:xfrm>
            <a:off x="68580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2" name="motif1"/>
          <p:cNvSpPr/>
          <p:nvPr/>
        </p:nvSpPr>
        <p:spPr>
          <a:xfrm>
            <a:off x="89154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FA95F"/>
          </a:solidFill>
          <a:ln w="12700">
            <a:solidFill>
              <a:srgbClr val="2FA95F"/>
            </a:solidFill>
            <a:prstDash val="solid"/>
          </a:ln>
        </p:spPr>
      </p:sp>
      <p:sp>
        <p:nvSpPr>
          <p:cNvPr id="13" name="motif2"/>
          <p:cNvSpPr/>
          <p:nvPr/>
        </p:nvSpPr>
        <p:spPr>
          <a:xfrm>
            <a:off x="109728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motif3"/>
          <p:cNvSpPr/>
          <p:nvPr/>
        </p:nvSpPr>
        <p:spPr>
          <a:xfrm>
            <a:off x="130302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8B40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16" name="Text 1"/>
          <p:cNvSpPr/>
          <p:nvPr>
            <p:ph idx="102" hasCustomPrompt="1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 checked the model before we trusted a single shot</a:t>
            </a:r>
            <a:endParaRPr lang="en-US" sz="3200" dirty="0"/>
          </a:p>
        </p:txBody>
      </p:sp>
      <p:sp>
        <p:nvSpPr>
          <p:cNvPr id="3" name="dot0"/>
          <p:cNvSpPr/>
          <p:nvPr/>
        </p:nvSpPr>
        <p:spPr>
          <a:xfrm>
            <a:off x="731520" y="143560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num0"/>
          <p:cNvSpPr txBox="1"/>
          <p:nvPr/>
        </p:nvSpPr>
        <p:spPr>
          <a:xfrm>
            <a:off x="73152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t0"/>
          <p:cNvSpPr txBox="1"/>
          <p:nvPr/>
        </p:nvSpPr>
        <p:spPr>
          <a:xfrm>
            <a:off x="1325880" y="1325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Hamiltonian = cost</a:t>
            </a:r>
            <a:endParaRPr lang="en-US" sz="1700" dirty="0"/>
          </a:p>
        </p:txBody>
      </p:sp>
      <p:sp>
        <p:nvSpPr>
          <p:cNvPr id="6" name="cd0"/>
          <p:cNvSpPr txBox="1"/>
          <p:nvPr/>
        </p:nvSpPr>
        <p:spPr>
          <a:xfrm>
            <a:off x="1325880" y="172821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 every one of the 4,096 bitstrings. Difference exactly 0.0, not a tolerance.</a:t>
            </a:r>
            <a:endParaRPr lang="en-US" sz="1300" dirty="0"/>
          </a:p>
        </p:txBody>
      </p:sp>
      <p:sp>
        <p:nvSpPr>
          <p:cNvPr id="7" name="dot1"/>
          <p:cNvSpPr/>
          <p:nvPr/>
        </p:nvSpPr>
        <p:spPr>
          <a:xfrm>
            <a:off x="731520" y="2551176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num1"/>
          <p:cNvSpPr txBox="1"/>
          <p:nvPr/>
        </p:nvSpPr>
        <p:spPr>
          <a:xfrm>
            <a:off x="731520" y="2551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ct1"/>
          <p:cNvSpPr txBox="1"/>
          <p:nvPr/>
        </p:nvSpPr>
        <p:spPr>
          <a:xfrm>
            <a:off x="1325880" y="24414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Two cost implementations</a:t>
            </a:r>
            <a:endParaRPr lang="en-US" sz="1700" dirty="0"/>
          </a:p>
        </p:txBody>
      </p:sp>
      <p:sp>
        <p:nvSpPr>
          <p:cNvPr id="10" name="cd1"/>
          <p:cNvSpPr txBox="1"/>
          <p:nvPr/>
        </p:nvSpPr>
        <p:spPr>
          <a:xfrm>
            <a:off x="1325880" y="28437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vectorised one and a plain-Python one written straight from the definition.</a:t>
            </a:r>
            <a:endParaRPr lang="en-US" sz="1300" dirty="0"/>
          </a:p>
        </p:txBody>
      </p:sp>
      <p:sp>
        <p:nvSpPr>
          <p:cNvPr id="11" name="dot2"/>
          <p:cNvSpPr/>
          <p:nvPr/>
        </p:nvSpPr>
        <p:spPr>
          <a:xfrm>
            <a:off x="731520" y="3666744"/>
            <a:ext cx="384048" cy="384048"/>
          </a:xfrm>
          <a:prstGeom prst="ellipse">
            <a:avLst/>
          </a:prstGeom>
          <a:solidFill>
            <a:srgbClr val="2FA95F"/>
          </a:solidFill>
          <a:ln w="12700">
            <a:solidFill>
              <a:srgbClr val="2FA95F"/>
            </a:solidFill>
            <a:prstDash val="solid"/>
          </a:ln>
        </p:spPr>
      </p:sp>
      <p:sp>
        <p:nvSpPr>
          <p:cNvPr id="12" name="num2"/>
          <p:cNvSpPr txBox="1"/>
          <p:nvPr/>
        </p:nvSpPr>
        <p:spPr>
          <a:xfrm>
            <a:off x="73152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ct2"/>
          <p:cNvSpPr txBox="1"/>
          <p:nvPr/>
        </p:nvSpPr>
        <p:spPr>
          <a:xfrm>
            <a:off x="1325880" y="35570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Decoder, both directions</a:t>
            </a:r>
            <a:endParaRPr lang="en-US" sz="1700" dirty="0"/>
          </a:p>
        </p:txBody>
      </p:sp>
      <p:sp>
        <p:nvSpPr>
          <p:cNvPr id="14" name="cd2"/>
          <p:cNvSpPr txBox="1"/>
          <p:nvPr/>
        </p:nvSpPr>
        <p:spPr>
          <a:xfrm>
            <a:off x="1325880" y="39593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zero-cost bitstring fails the starter's solves(); no positive-cost one passes it.</a:t>
            </a:r>
            <a:endParaRPr lang="en-US" sz="1300" dirty="0"/>
          </a:p>
        </p:txBody>
      </p:sp>
      <p:sp>
        <p:nvSpPr>
          <p:cNvPr id="15" name="dot3"/>
          <p:cNvSpPr/>
          <p:nvPr/>
        </p:nvSpPr>
        <p:spPr>
          <a:xfrm>
            <a:off x="731520" y="4782312"/>
            <a:ext cx="384048" cy="384048"/>
          </a:xfrm>
          <a:prstGeom prst="ellipse">
            <a:avLst/>
          </a:prstGeom>
          <a:solidFill>
            <a:srgbClr val="E8B40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16" name="num3"/>
          <p:cNvSpPr txBox="1"/>
          <p:nvPr/>
        </p:nvSpPr>
        <p:spPr>
          <a:xfrm>
            <a:off x="73152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ct3"/>
          <p:cNvSpPr txBox="1"/>
          <p:nvPr/>
        </p:nvSpPr>
        <p:spPr>
          <a:xfrm>
            <a:off x="1325880" y="46725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Fast simulator = Qiskit</a:t>
            </a:r>
            <a:endParaRPr lang="en-US" sz="1700" dirty="0"/>
          </a:p>
        </p:txBody>
      </p:sp>
      <p:sp>
        <p:nvSpPr>
          <p:cNvPr id="18" name="cd3"/>
          <p:cNvSpPr txBox="1"/>
          <p:nvPr/>
        </p:nvSpPr>
        <p:spPr>
          <a:xfrm>
            <a:off x="1325880" y="5074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hand-written statevector used in the angle search agrees to 1e-15.</a:t>
            </a:r>
            <a:endParaRPr lang="en-US" sz="1300" dirty="0"/>
          </a:p>
        </p:txBody>
      </p:sp>
      <p:sp>
        <p:nvSpPr>
          <p:cNvPr id="19" name="kicker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Every success rate we report is the fraction of shots that pass the classical checker — never the fraction below an energy threshold.</a:t>
            </a:r>
            <a:endParaRPr lang="en-US" sz="1400" dirty="0"/>
          </a:p>
        </p:txBody>
      </p:sp>
      <p:sp>
        <p:nvSpPr>
          <p:cNvPr id="21" name="Text 1"/>
          <p:cNvSpPr/>
          <p:nvPr>
            <p:ph idx="102" hasCustomPrompt="1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state-to-choice map is a free 2.6× saving</a:t>
            </a:r>
            <a:endParaRPr lang="en-US" sz="3200" dirty="0"/>
          </a:p>
        </p:txBody>
      </p:sp>
      <p:sp>
        <p:nvSpPr>
          <p:cNvPr id="3" name="aliastext"/>
          <p:cNvSpPr txBox="1"/>
          <p:nvPr/>
        </p:nvSpPr>
        <p:spPr>
          <a:xfrm>
            <a:off x="685800" y="128016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of the eight states are duplicates. Which ones is ours to choose, and it changes the Walsh expansion of the cost — so it changes how many Z strings the Hamiltonian has and how long they are. We searched all 720 × 36 maps and scored each by the CX gates one cost layer needs. Same Hamiltonian, same answers, cheaper circuit.</a:t>
            </a:r>
            <a:endParaRPr lang="en-US" sz="1400" dirty="0"/>
          </a:p>
        </p:txBody>
      </p:sp>
      <p:sp>
        <p:nvSpPr>
          <p:cNvPr id="4" name="a0v"/>
          <p:cNvSpPr txBox="1"/>
          <p:nvPr/>
        </p:nvSpPr>
        <p:spPr>
          <a:xfrm>
            <a:off x="68580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4545"/>
                </a:solidFill>
              </a:rPr>
              <a:t>1216</a:t>
            </a:r>
            <a:endParaRPr lang="en-US" sz="3400" dirty="0"/>
          </a:p>
        </p:txBody>
      </p:sp>
      <p:sp>
        <p:nvSpPr>
          <p:cNvPr id="5" name="a0l"/>
          <p:cNvSpPr txBox="1"/>
          <p:nvPr/>
        </p:nvSpPr>
        <p:spPr>
          <a:xfrm>
            <a:off x="685800" y="3813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94"/>
                </a:solidFill>
              </a:rPr>
              <a:t>CX per layer, naive map</a:t>
            </a:r>
            <a:endParaRPr lang="en-US" sz="1200" dirty="0"/>
          </a:p>
        </p:txBody>
      </p:sp>
      <p:sp>
        <p:nvSpPr>
          <p:cNvPr id="6" name="a1v"/>
          <p:cNvSpPr txBox="1"/>
          <p:nvPr/>
        </p:nvSpPr>
        <p:spPr>
          <a:xfrm>
            <a:off x="288036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A95F"/>
                </a:solidFill>
              </a:rPr>
              <a:t>460</a:t>
            </a:r>
            <a:endParaRPr lang="en-US" sz="3400" dirty="0"/>
          </a:p>
        </p:txBody>
      </p:sp>
      <p:sp>
        <p:nvSpPr>
          <p:cNvPr id="7" name="a1l"/>
          <p:cNvSpPr txBox="1"/>
          <p:nvPr/>
        </p:nvSpPr>
        <p:spPr>
          <a:xfrm>
            <a:off x="2880360" y="3813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94"/>
                </a:solidFill>
              </a:rPr>
              <a:t>CX per layer, searched</a:t>
            </a:r>
            <a:endParaRPr lang="en-US" sz="1200" dirty="0"/>
          </a:p>
        </p:txBody>
      </p:sp>
      <p:sp>
        <p:nvSpPr>
          <p:cNvPr id="8" name="a2v"/>
          <p:cNvSpPr txBox="1"/>
          <p:nvPr/>
        </p:nvSpPr>
        <p:spPr>
          <a:xfrm>
            <a:off x="5074920" y="30632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</a:rPr>
              <a:t>6 → 4</a:t>
            </a:r>
            <a:endParaRPr lang="en-US" sz="3400" dirty="0"/>
          </a:p>
        </p:txBody>
      </p:sp>
      <p:sp>
        <p:nvSpPr>
          <p:cNvPr id="9" name="a2l"/>
          <p:cNvSpPr txBox="1"/>
          <p:nvPr/>
        </p:nvSpPr>
        <p:spPr>
          <a:xfrm>
            <a:off x="5074920" y="3813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7A94"/>
                </a:solidFill>
              </a:rPr>
              <a:t>longest Z string</a:t>
            </a:r>
            <a:endParaRPr lang="en-US" sz="1200" dirty="0"/>
          </a:p>
        </p:txBody>
      </p:sp>
      <p:pic>
        <p:nvPicPr>
          <p:cNvPr id="10" name="Image 0" descr="figures/al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4663440" cy="3017520"/>
          </a:xfrm>
          <a:prstGeom prst="rect">
            <a:avLst/>
          </a:prstGeom>
        </p:spPr>
      </p:pic>
      <p:sp>
        <p:nvSpPr>
          <p:cNvPr id="11" name="aliasnote"/>
          <p:cNvSpPr txBox="1"/>
          <p:nvPr/>
        </p:nvSpPr>
        <p:spPr>
          <a:xfrm>
            <a:off x="68580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search is pure classical preprocessing: it runs once, costs seconds, and the circuit it produces is provably the same Hamiltonian.</a:t>
            </a:r>
            <a:endParaRPr lang="en-US" sz="1300" dirty="0"/>
          </a:p>
        </p:txBody>
      </p:sp>
      <p:sp>
        <p:nvSpPr>
          <p:cNvPr id="12" name="motif0"/>
          <p:cNvSpPr/>
          <p:nvPr/>
        </p:nvSpPr>
        <p:spPr>
          <a:xfrm>
            <a:off x="68580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3" name="motif1"/>
          <p:cNvSpPr/>
          <p:nvPr/>
        </p:nvSpPr>
        <p:spPr>
          <a:xfrm>
            <a:off x="89154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FA95F"/>
          </a:solidFill>
          <a:ln w="12700">
            <a:solidFill>
              <a:srgbClr val="2FA95F"/>
            </a:solidFill>
            <a:prstDash val="solid"/>
          </a:ln>
        </p:spPr>
      </p:sp>
      <p:sp>
        <p:nvSpPr>
          <p:cNvPr id="14" name="motif2"/>
          <p:cNvSpPr/>
          <p:nvPr/>
        </p:nvSpPr>
        <p:spPr>
          <a:xfrm>
            <a:off x="109728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motif3"/>
          <p:cNvSpPr/>
          <p:nvPr/>
        </p:nvSpPr>
        <p:spPr>
          <a:xfrm>
            <a:off x="130302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8B40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17" name="Text 1"/>
          <p:cNvSpPr/>
          <p:nvPr>
            <p:ph idx="102" hasCustomPrompt="1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we optimised mattered more than the circuit</a:t>
            </a:r>
            <a:endParaRPr lang="en-US" sz="3200" dirty="0"/>
          </a:p>
        </p:txBody>
      </p:sp>
      <p:pic>
        <p:nvPicPr>
          <p:cNvPr id="3" name="Image 0" descr="figure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71600"/>
            <a:ext cx="5486400" cy="3017520"/>
          </a:xfrm>
          <a:prstGeom prst="rect">
            <a:avLst/>
          </a:prstGeom>
        </p:spPr>
      </p:pic>
      <p:sp>
        <p:nvSpPr>
          <p:cNvPr id="4" name="opt"/>
          <p:cNvSpPr txBox="1"/>
          <p:nvPr/>
        </p:nvSpPr>
        <p:spPr>
          <a:xfrm>
            <a:off x="685800" y="137160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CVaR instead of the mean
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Minimising the average cost is not the same as maximising P(solved): the average is dominated by the bulk of bad bitstrings. CVaR averages only the best 30%, so the optimiser chases the low-cost tail where the answers are.
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Layer-by-layer growth
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Optimising 2p angles from a random start stalls. Instead solve p = 1, interpolate those angles into a p + 1 schedule, re-optimise. Every layer starts from a good guess.</a:t>
            </a:r>
            <a:endParaRPr lang="en-US" sz="1700" dirty="0"/>
          </a:p>
        </p:txBody>
      </p:sp>
      <p:sp>
        <p:nvSpPr>
          <p:cNvPr id="5" name="jump"/>
          <p:cNvSpPr txBox="1"/>
          <p:nvPr/>
        </p:nvSpPr>
        <p:spPr>
          <a:xfrm>
            <a:off x="685800" y="4846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Same Hamiltonian, same hardware:   ~2%   →   44.6%</a:t>
            </a:r>
            <a:endParaRPr lang="en-US" sz="2800" dirty="0"/>
          </a:p>
        </p:txBody>
      </p:sp>
      <p:sp>
        <p:nvSpPr>
          <p:cNvPr id="6" name="motif0"/>
          <p:cNvSpPr/>
          <p:nvPr/>
        </p:nvSpPr>
        <p:spPr>
          <a:xfrm>
            <a:off x="68580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motif1"/>
          <p:cNvSpPr/>
          <p:nvPr/>
        </p:nvSpPr>
        <p:spPr>
          <a:xfrm>
            <a:off x="89154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FA95F"/>
          </a:solidFill>
          <a:ln w="12700">
            <a:solidFill>
              <a:srgbClr val="2FA95F"/>
            </a:solidFill>
            <a:prstDash val="solid"/>
          </a:ln>
        </p:spPr>
      </p:sp>
      <p:sp>
        <p:nvSpPr>
          <p:cNvPr id="8" name="motif2"/>
          <p:cNvSpPr/>
          <p:nvPr/>
        </p:nvSpPr>
        <p:spPr>
          <a:xfrm>
            <a:off x="109728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motif3"/>
          <p:cNvSpPr/>
          <p:nvPr/>
        </p:nvSpPr>
        <p:spPr>
          <a:xfrm>
            <a:off x="130302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8B40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11" name="Text 1"/>
          <p:cNvSpPr/>
          <p:nvPr>
            <p:ph idx="102" hasCustomPrompt="1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Results, and how they scale with N</a:t>
            </a:r>
            <a:endParaRPr lang="en-US" sz="3200" dirty="0"/>
          </a:p>
        </p:txBody>
      </p:sp>
      <p:graphicFrame>
        <p:nvGraphicFramePr>
          <p:cNvPr id="8" name="res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914400"/>
                <a:gridCol w="411480"/>
                <a:gridCol w="1097280"/>
                <a:gridCol w="1097280"/>
                <a:gridCol w="8686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52B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52B"/>
                          </a:solidFill>
                        </a:rPr>
                        <a:t>Qubits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52B"/>
                          </a:solidFill>
                        </a:rPr>
                        <a:t>CX/layer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52B"/>
                          </a:solidFill>
                        </a:rPr>
                        <a:t>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52B"/>
                          </a:solidFill>
                        </a:rPr>
                        <a:t>P(solved)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52B"/>
                          </a:solidFill>
                        </a:rPr>
                        <a:t>Random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152B"/>
                          </a:solidFill>
                        </a:rPr>
                        <a:t>Lift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460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44.20%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0.1465%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×302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890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13.37%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0.0366%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×365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1264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8.43%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0.0069%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×1227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1686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1.04%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0.0002%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52B"/>
                          </a:solidFill>
                        </a:rPr>
                        <a:t>×5457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figures/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25880"/>
            <a:ext cx="4937760" cy="2926080"/>
          </a:xfrm>
          <a:prstGeom prst="rect">
            <a:avLst/>
          </a:prstGeom>
        </p:spPr>
      </p:pic>
      <p:sp>
        <p:nvSpPr>
          <p:cNvPr id="5" name="scalenote"/>
          <p:cNvSpPr txBox="1"/>
          <p:nvPr/>
        </p:nvSpPr>
        <p:spPr>
          <a:xfrm>
            <a:off x="685800" y="45720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 = 4 ran on AWS SV1: 884 of 2000 shots = 44.20% measured, against 44.62% predicted. Inside sampling error.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lift over random grows with N, but the absolute success rate falls, because the solution fraction shrinks faster than the algorithm gains.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 report both, not only the flattering one.</a:t>
            </a:r>
            <a:endParaRPr lang="en-US" sz="1400" dirty="0"/>
          </a:p>
        </p:txBody>
      </p:sp>
      <p:sp>
        <p:nvSpPr>
          <p:cNvPr id="6" name="seeds"/>
          <p:cNvSpPr txBox="1"/>
          <p:nvPr/>
        </p:nvSpPr>
        <p:spPr>
          <a:xfrm>
            <a:off x="685800" y="52852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7A94"/>
                </a:solidFill>
              </a:rPr>
              <a:t>Puzzles with N &gt; 4 from the starter's make_puzzle(n, seed): N=5 seed 16, N=6 seed 86, N=7 seed 68. Every N re-verified against the classical cost, and its alias map re-searched, before any angle search.</a:t>
            </a:r>
            <a:endParaRPr lang="en-US" sz="1100" dirty="0"/>
          </a:p>
        </p:txBody>
      </p:sp>
      <p:sp>
        <p:nvSpPr>
          <p:cNvPr id="7" name="motif0"/>
          <p:cNvSpPr/>
          <p:nvPr/>
        </p:nvSpPr>
        <p:spPr>
          <a:xfrm>
            <a:off x="68580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" name="motif1"/>
          <p:cNvSpPr/>
          <p:nvPr/>
        </p:nvSpPr>
        <p:spPr>
          <a:xfrm>
            <a:off x="89154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FA95F"/>
          </a:solidFill>
          <a:ln w="12700">
            <a:solidFill>
              <a:srgbClr val="2FA95F"/>
            </a:solidFill>
            <a:prstDash val="solid"/>
          </a:ln>
        </p:spPr>
      </p:sp>
      <p:sp>
        <p:nvSpPr>
          <p:cNvPr id="9" name="motif2"/>
          <p:cNvSpPr/>
          <p:nvPr/>
        </p:nvSpPr>
        <p:spPr>
          <a:xfrm>
            <a:off x="109728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motif3"/>
          <p:cNvSpPr/>
          <p:nvPr/>
        </p:nvSpPr>
        <p:spPr>
          <a:xfrm>
            <a:off x="1303020" y="5852160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E8B400"/>
          </a:solidFill>
          <a:ln w="12700">
            <a:solidFill>
              <a:srgbClr val="E8B400"/>
            </a:solidFill>
            <a:prstDash val="solid"/>
          </a:ln>
        </p:spPr>
      </p:sp>
      <p:sp>
        <p:nvSpPr>
          <p:cNvPr id="12" name="Text 1"/>
          <p:cNvSpPr/>
          <p:nvPr>
            <p:ph idx="102" hasCustomPrompt="1"/>
          </p:nvPr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we are not claiming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2240280"/>
            <a:ext cx="10515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 quantum speedup. </a:t>
            </a:r>
            <a:pPr indent="0" marL="0">
              <a:buNone/>
            </a:pPr>
            <a:r>
              <a:rPr lang="en-US" sz="1500" dirty="0">
                <a:solidFill>
                  <a:srgbClr val="C9C5DC"/>
                </a:solidFill>
              </a:rPr>
              <a:t>Brute force solves the four-cube puzzle in a fraction of a second, far faster than building, optimising and sampling these circuits. The honest comparison is against random guessing inside the same encoding, and that is what every table reports. The general N-cube problem is NP-complete, and nothing here changes that.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Next. </a:t>
            </a:r>
            <a:pPr indent="0" marL="0">
              <a:buNone/>
            </a:pPr>
            <a:r>
              <a:rPr lang="en-US" sz="1500" dirty="0">
                <a:solidFill>
                  <a:srgbClr val="C9C5DC"/>
                </a:solidFill>
              </a:rPr>
              <a:t>The cost layer is the bottleneck, and most of it is weight-3 and weight-4 Z strings. Order them to share CX ladders between neighbouring terms, and warm-start the angles for N + 1 from the optimised schedule at N — the layerwise growth already hints it transfers.</a:t>
            </a:r>
            <a:endParaRPr lang="en-US" sz="1500" dirty="0"/>
          </a:p>
        </p:txBody>
      </p:sp>
      <p:sp>
        <p:nvSpPr>
          <p:cNvPr id="4" name="motif0"/>
          <p:cNvSpPr/>
          <p:nvPr/>
        </p:nvSpPr>
        <p:spPr>
          <a:xfrm>
            <a:off x="822960" y="59436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5" name="motif1"/>
          <p:cNvSpPr/>
          <p:nvPr/>
        </p:nvSpPr>
        <p:spPr>
          <a:xfrm>
            <a:off x="1207008" y="59436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2FA95F"/>
          </a:solidFill>
          <a:ln w="12700">
            <a:solidFill>
              <a:srgbClr val="2FA95F"/>
            </a:solidFill>
            <a:prstDash val="solid"/>
          </a:ln>
        </p:spPr>
      </p:sp>
      <p:sp>
        <p:nvSpPr>
          <p:cNvPr id="6" name="motif2"/>
          <p:cNvSpPr/>
          <p:nvPr/>
        </p:nvSpPr>
        <p:spPr>
          <a:xfrm>
            <a:off x="1591056" y="59436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motif3"/>
          <p:cNvSpPr/>
          <p:nvPr/>
        </p:nvSpPr>
        <p:spPr>
          <a:xfrm>
            <a:off x="1975104" y="594360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E8B400"/>
          </a:solidFill>
          <a:ln w="12700">
            <a:solidFill>
              <a:srgbClr val="E8B4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Instant Insanity">
  <a:themeElements>
    <a:clrScheme name="Instant Insanity">
      <a:dk1>
        <a:srgbClr val="17152B"/>
      </a:dk1>
      <a:lt1>
        <a:srgbClr val="FFFFFF"/>
      </a:lt1>
      <a:dk2>
        <a:srgbClr val="2B2745"/>
      </a:dk2>
      <a:lt2>
        <a:srgbClr val="F3F1FA"/>
      </a:lt2>
      <a:accent1>
        <a:srgbClr val="8B5CF6"/>
      </a:accent1>
      <a:accent2>
        <a:srgbClr val="2FA95F"/>
      </a:accent2>
      <a:accent3>
        <a:srgbClr val="E8B400"/>
      </a:accent3>
      <a:accent4>
        <a:srgbClr val="3B82F6"/>
      </a:accent4>
      <a:accent5>
        <a:srgbClr val="D64545"/>
      </a:accent5>
      <a:accent6>
        <a:srgbClr val="7C7A94"/>
      </a:accent6>
      <a:hlink>
        <a:srgbClr val="8B5CF6"/>
      </a:hlink>
      <a:folHlink>
        <a:srgbClr val="7C7A94"/>
      </a:folHlink>
    </a:clrScheme>
    <a:fontScheme name="Instant Insan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Instant Insanity with a compact QAOA encoding</dc:title>
  <dc:subject>PptxGenJS Presentation</dc:subject>
  <dc:creator>UConn Fall Fest team</dc:creator>
  <cp:lastModifiedBy>UConn Fall Fest team</cp:lastModifiedBy>
  <cp:revision>1</cp:revision>
  <dcterms:created xsi:type="dcterms:W3CDTF">2026-10-17T15:32:50Z</dcterms:created>
  <dcterms:modified xsi:type="dcterms:W3CDTF">2026-10-17T15:32:50Z</dcterms:modified>
</cp:coreProperties>
</file>